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MINI-COURSE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Survival Modelling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3D Medical Images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deep dive — from censored data and hazard functions to deep survival losses, evaluation metrics, risk stratification, and an SSL pipeline for 3D imaging.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57784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557784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408176" y="557784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700784" y="557784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993392" y="5577840"/>
            <a:ext cx="118872" cy="118872"/>
          </a:xfrm>
          <a:prstGeom prst="ellipse">
            <a:avLst/>
          </a:prstGeom>
          <a:solidFill>
            <a:srgbClr val="3A5066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5577840"/>
            <a:ext cx="118872" cy="118872"/>
          </a:xfrm>
          <a:prstGeom prst="ellipse">
            <a:avLst/>
          </a:prstGeom>
          <a:solidFill>
            <a:srgbClr val="3A5066"/>
          </a:solidFill>
          <a:ln/>
        </p:spPr>
      </p:sp>
      <p:sp>
        <p:nvSpPr>
          <p:cNvPr id="11" name="Shape 9"/>
          <p:cNvSpPr/>
          <p:nvPr/>
        </p:nvSpPr>
        <p:spPr>
          <a:xfrm>
            <a:off x="2578608" y="5577840"/>
            <a:ext cx="118872" cy="118872"/>
          </a:xfrm>
          <a:prstGeom prst="ellipse">
            <a:avLst/>
          </a:prstGeom>
          <a:solidFill>
            <a:srgbClr val="3A5066"/>
          </a:solidFill>
          <a:ln/>
        </p:spPr>
      </p:sp>
      <p:sp>
        <p:nvSpPr>
          <p:cNvPr id="12" name="Shape 10"/>
          <p:cNvSpPr/>
          <p:nvPr/>
        </p:nvSpPr>
        <p:spPr>
          <a:xfrm>
            <a:off x="2871216" y="5577840"/>
            <a:ext cx="118872" cy="118872"/>
          </a:xfrm>
          <a:prstGeom prst="ellipse">
            <a:avLst/>
          </a:prstGeom>
          <a:solidFill>
            <a:srgbClr val="3A506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 ·  loss functions  ·  thresholds  ·  metrics  ·  Python tooling  ·  SSL3D pipeline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3134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basics, censoring, events, competing risks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160020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3592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93592" y="23134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93592" y="27157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goals &amp; oncology endpoints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2784" y="160020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5664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55664" y="23134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55664" y="27157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PH · parametric NLL · log-rank · DeepHIT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34856" y="160020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17736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317736" y="23134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17736" y="27157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· Youden · max log-rank cutoff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31520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48188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· Brier · KM curves · time-dependent AUC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37033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93592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593592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93592" y="48188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lifelines · pycox · torchsurv · sksurv · auton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2784" y="37033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55664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455664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SSL3D-Survival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55664" y="48188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 → survival fine-tuning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34856" y="37033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317736" y="3840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317736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317736" y="48188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PFS risk stratification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834640" y="2331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8036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of time-to-event data: the survival and hazard functions, the censoring problem that defines the field, what counts as an event, and competing risks.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survival analysis?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time until an event — not just whether it happens, but when.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function  S(t) = P(T &gt; t):  probability of surviving beyond t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 h(t):  instantaneous event rate at t, given survival to t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hazard  H(t):  integral of the hazard over time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standard regression?</a:t>
            </a:r>
            <a:endParaRPr lang="en-US" sz="150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censored subjects (event not yet observed)</a:t>
            </a:r>
            <a:endParaRPr lang="en-US" sz="1500" dirty="0"/>
          </a:p>
          <a:p>
            <a:pPr lvl="1" marL="3556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represent time-varying risk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783080"/>
            <a:ext cx="5120640" cy="2331720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92240" y="24460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FIGURE — S(t) &amp; h(t)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9032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Add a survival curve S(t) (monotone decreasing, 1→0) alongside its hazard h(t).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estimators (lifelines)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4882896"/>
            <a:ext cx="5120640" cy="123444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4882896"/>
            <a:ext cx="64008" cy="1234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656832" y="4956048"/>
            <a:ext cx="48280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lifelines import KaplanMeierFitter, NelsonAalenFitter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KaplanMeierFitter().fit(T, E)   # estimates S(t)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NelsonAalenFitter().fit(T, E)   # estimates H(t)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Censored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= the exact event time is unknown for some subjects. It is the defining challenge of survival analysis.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669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censoring (common): subject exits before the event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censoring: event occurred before observation began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censoring: event known within a window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per subject:</a:t>
            </a:r>
            <a:endParaRPr lang="en-US" sz="150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observed time (event or censoring time)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— event indicator (1 = event, 0 = censored); coded as 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δ backwards silently corrupts every estimate — verify the convention before fitting.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240280"/>
            <a:ext cx="5120640" cy="2103120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9224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FIGURE — censoring timeline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3246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Add a lollipop timeline: filled dots = events (δ=1), open dots/arrows = right-censored (δ=0).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(T, δ) encoding differs per package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4928616"/>
            <a:ext cx="5120640" cy="141732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4928616"/>
            <a:ext cx="6400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656832" y="5001768"/>
            <a:ext cx="48280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scikit-survival: single structured array, event first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np.array([(bool(e), t) for e, t in zip(E, T)],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dtype=[('event', bool), ('time', float)])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event? Composite endpoints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must be binary, irreversible, and precisely timestamped.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endpoints:</a:t>
            </a:r>
            <a:endParaRPr lang="en-US" sz="15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— death from any cause</a:t>
            </a:r>
            <a:endParaRPr lang="en-US" sz="15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recurrence or death</a:t>
            </a:r>
            <a:endParaRPr lang="en-US" sz="15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 — progression or death</a:t>
            </a:r>
            <a:endParaRPr lang="en-US" sz="1500" dirty="0"/>
          </a:p>
          <a:p>
            <a:pPr lvl="1" marL="3556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recurrence — at primary site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 = progression OR death, whichever comes first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33172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ONE binary indicator — never two times: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=  time to earliest of {progression, death}, else censoring time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 =  1 if progression or death occurred, else 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“PFS” and “death” as two events double-counts death. Splitting event types is a different design — competing risks (see 1.4) — and still uses one time per patient.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Multi-events &amp; competing risks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competing risk prevents the event of interest (e.g. death before recurrence).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KM (1 − S(t)) overestimates the cumulative incidence — use Aalen-Johansen.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approaches:</a:t>
            </a:r>
            <a:endParaRPr lang="en-US" sz="14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Cause-specific hazards — one model per event type</a:t>
            </a:r>
            <a:endParaRPr lang="en-US" sz="140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Sub-distribution (Fine-Gray) — models CIF directly</a:t>
            </a:r>
            <a:endParaRPr lang="en-US" sz="1400" dirty="0"/>
          </a:p>
          <a:p>
            <a:pPr lvl="1" marL="3556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DeepHIT — joint distribution over event type &amp;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CIF estimator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2093976"/>
            <a:ext cx="5120640" cy="173736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093976"/>
            <a:ext cx="64008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656832" y="2167128"/>
            <a:ext cx="482803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lifelines import AalenJohansenFitter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ajf = AalenJohansenFitter()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ajf.fit(T, event_observed,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event_of_interest=1)  # 0=cens, 1,2,...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ajf.plot()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3794760"/>
            <a:ext cx="5120640" cy="1965960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92240" y="42748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FIGURE — CIF comparison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47320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Add CIF curves: 1−S(t) (KM, biased high) vs Aalen-Johansen (correct) under competing risks.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834640" y="2331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8036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clinicians actually want out of a survival model: a risk score, a risk stratum, or an absolute event probability — and the oncology endpoints behind them.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Clinician goals → model outputs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5577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scalar per patient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model.predict(X)  ·  cph.predict_partial_hazard(df)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probability by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S(t) curve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model.predict_surv_df(x)  ·  predict_survival_function(X)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at fixed horizons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P(event by 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model.predict_risk(features, t=[8,12,16])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stratification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the risk score  (see Module 04)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alone cannot answer “what is my 2-year recurrence probability?” — Cox-style models give a ranking. You need a model that emits S(t) for absolute probabilities. Choose the model by the question being asked.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endpoint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347472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regional · distant (metastasis). Feeds DFS / RFS analyses.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783080"/>
            <a:ext cx="3474720" cy="109728"/>
          </a:xfrm>
          <a:prstGeom prst="rect">
            <a:avLst/>
          </a:prstGeom>
          <a:solidFill>
            <a:srgbClr val="33415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Death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80560" y="25603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= death any cause (gold standard). CSS = cancer-specific (cause-of-death dependent).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1783080"/>
            <a:ext cx="3474720" cy="109728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183880" y="25603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unambiguous but slow; DFS/RFS earlier but imaging-schedule dependent; PFS trial-usable but criteria vary.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5029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Unambiguous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long follow-up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 / RFS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Recurrence detection depends on imaging schedule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Usable in trials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Progression criteria can vary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834640" y="2331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8036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you optimize defines what the model learns. Four families: semi-parametric Cox, fully parametric NLL, the stratification-oriented log-rank loss, and DeepHIT.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LOSS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Cox proportional hazards 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h(t | xᵢ) = h₀(t) · exp(βᵀ xᵢ)        L(β) = − Σ_{δᵢ=1} [ βᵀ xᵢ − log Σ_{j∈R(tᵢ)} exp(βᵀ xⱼ)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hazard h₀(t) left unspecified → semi-parametric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hazards: hazard ratio constant over time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log-hazard (risk score), not a probability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version (DeepSurv): replace βᵀx with a network φ(x)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Risk-set scope: with mini-batches the risk set is restricted to the batch — large batches reduce approximation error; CoxCC uses case-control sampling.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every altitude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779776"/>
            <a:ext cx="5212080" cy="310896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2779776"/>
            <a:ext cx="64008" cy="3108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392" y="2852928"/>
            <a:ext cx="4919472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torchsurv — raw differentiable loss (custom model)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torchsurv.loss import cox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log_hz = model(x)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cox.neg_partial_log_likelihood(log_hz, events, times)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lifelines — classical Cox on tabular data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lifelines import CoxPHFitter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CoxPHFitter().fit(df, duration_col='T', event_col='E')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LOSS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Parametric negative log-likelihood 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ℓᵢ = δᵢ log f(Tᵢ | xᵢ) + (1 − δᵢ) log S(Tᵢ | xᵢ)        L = − Σᵢ ℓᵢ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(δ=1) → use the density f(t);  censored (δ=0) → use S(t)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Distributions: Exponential, Weibull, Log-normal, Log-logistic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predicts distribution parameters (e.g. Weibull shape &amp; scale)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full S(t) and can extrapolate beyond the last event — at the cost of a distributional assumption Cox avoids.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flavors: parametric &amp; discrete-time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688336"/>
            <a:ext cx="5212080" cy="320040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688336"/>
            <a:ext cx="64008" cy="3200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2761488"/>
            <a:ext cx="4919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torchsurv — parametric Weibull AFT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torchsurv.loss import weibull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log_params = model(x)   # log shape &amp; log scale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weibull.neg_log_likelihood(log_params, events, times)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pycox — discrete-time NLL (bin the time axis first)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labtrans = models.LogisticHazard.label_transform(20)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labtrans.fit_transform(durations, events)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LOSS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Log-rank 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the log-rank test that compares survival curves between groups.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loss: encourage risk scores that maximally separate high- vs low-risk KM curves.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is non-differentiable (hard group split) → a training loss needs a smooth relaxation (softmax/sigmoid over the risk score).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lifelines/sksurv — it is a custom loss in deep stratification pipelines (see Module 07).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2093976"/>
            <a:ext cx="5120640" cy="155448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093976"/>
            <a:ext cx="64008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656832" y="2167128"/>
            <a:ext cx="48280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log-rank TEST (evaluation, not training)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lifelines.statistics import logrank_test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logrank_test(T_high, T_low, E_high, E_low)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print(res.test_statistic, res.p_value)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5661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i="1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it: Cox/NLL optimize ranking or likelihood; the log-rank loss optimizes the thing the clinician sees — separation of KM curves. Use it (often as an auxiliary term) when group stratification is the deliverable.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LOSS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DeepHIT loss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discrete joint distribution p(T=t, K=k | x) over time bins &amp; event types.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L₁ + α·L₂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— log-likelihood (calibration)</a:t>
            </a:r>
            <a:endParaRPr lang="en-US" sz="1350" dirty="0"/>
          </a:p>
          <a:p>
            <a:pPr lvl="1" marL="3556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 — ranking loss (cause-specific C-index, discrimination)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 assumption · handles competing risks natively · flexible time grid.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both knobs: α trades calibration vs discrimination; σ sharpens the ranking penalty.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pycox reference implementation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2093976"/>
            <a:ext cx="5120640" cy="320040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093976"/>
            <a:ext cx="64008" cy="3200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656832" y="2167128"/>
            <a:ext cx="482803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pycox.models import DeepHitSingle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labtrans = DeepHitSingle.label_transform(20)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labtrans.fit_transform(durations, events)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DeepHitSingle(net, optimizer,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alpha=0.2, sigma=0.1,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duration_index=labtrans.cuts)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y, epochs=100)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 = model.predict_surv_df(x_test)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competing risks: swap in pycox.models.DeepHit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834640" y="2331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8036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is continuous; a clinical decision is a group. How to pick the cutpoint that splits patients into risk strata — and the train/test discipline that keeps it honest.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THRESHOLDS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pick a cutpoint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34747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190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 = median(scores)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788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assumption-free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50/50 split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outcome data needed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the true cutpoint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691640"/>
            <a:ext cx="3474720" cy="457200"/>
          </a:xfrm>
          <a:prstGeom prst="rect">
            <a:avLst/>
          </a:prstGeom>
          <a:solidFill>
            <a:srgbClr val="33415A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7190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Youden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34840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max(Sens + Spec − 1)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16552" y="2788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 at a time horizon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 time-dependent ROC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FP / FN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chosen horizon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69164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0" y="1691640"/>
            <a:ext cx="347472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7190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log-rank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38160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argmaxτ log-rank stat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19872" y="2788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KM separation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horizon needed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Multiple testing inflates p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NOT valid — validate held-out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 — fit τ on train, freeze it, apply to test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64240" cy="86868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431536"/>
            <a:ext cx="64008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5504688"/>
            <a:ext cx="107716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 = np.median(risk_scores_train)   # FIT ON TRAIN ONLY</a:t>
            </a:r>
            <a:endParaRPr lang="en-US" sz="1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high_risk_test = risk_scores_test &gt;= tau  # freeze, apply to TEST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834640" y="2331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8036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is not calibration. Report both: the C-index and time-dependent AUC for ranking, the Brier score for calibration, and KM curves to communicate.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Concordance index (C-index)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P( rᵢ &gt; rⱼ  |  Tᵢ &lt; Tⱼ, δᵢ = 1 )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669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Discrimination: how well the model ranks patients by risk.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random · 0.6–0.7 moderate · 0.7–0.8 good · &gt;0.8 strong</a:t>
            </a:r>
            <a:endParaRPr lang="en-US" sz="1350" dirty="0"/>
          </a:p>
          <a:p>
            <a:pPr lvl="1" marL="355600" indent="-1778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Harrell's C — all comparable pairs; optimistic under heavy censoring</a:t>
            </a:r>
            <a:endParaRPr lang="en-US" sz="1350" dirty="0"/>
          </a:p>
          <a:p>
            <a:pPr lvl="1" marL="3556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Uno's C (IPCW) — reweights pairs; prefer when censoring is non-trivial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a single number, ignores calibration.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2688336"/>
            <a:ext cx="5120640" cy="320040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688336"/>
            <a:ext cx="64008" cy="3200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2761488"/>
            <a:ext cx="482803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lifelines — Harrell's C (pass NEGATIVE risk!)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lifelines.utils import concordance_index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concordance_index(times, -risk, events)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scikit-survival — Harrell &amp; Uno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sksurv.metrics import (concordance_index_censored,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concordance_index_ipcw)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 = concordance_index_ipcw(y_train, y_test, risk,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tau=t_max)[0]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Brier score (calibration)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BS(t) = (1/n) Σᵢ [ S(t | xᵢ) − Ⅰ(Tᵢ &gt; t) ]²        IBS = ∫ BS(t) dt / (t_max − t_min)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close predicted S(t) is to observed outcomes.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IPCW correction needed — raw Brier is biased under censoring.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better; 0 = perfect, 0.25 = uninformative. Compare vs KM baseline.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evaluation times beyond the last event make IPCW weights explode — stay inside follow-up.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complements the C-index — a model can rank well yet be poorly calibrated. Report both.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scikit-survival (reference)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2688336"/>
            <a:ext cx="5120640" cy="320040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688336"/>
            <a:ext cx="64008" cy="3200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2761488"/>
            <a:ext cx="482803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sksurv.metrics import (brier_score,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integrated_brier_score)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 = np.percentile(time_test[event_test],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[25, 50, 75])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 = np.row_stack([fn(times) for fn in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model.predict_survival_function(X_test)])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t, bs = brier_score(y_train, y_test, surv, times)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ibs   = integrated_brier_score(y_train, y_test,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surv, times)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Kaplan-Meier curves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S(t) = ∏_{tᵢ ≤ t} ( 1 − dᵢ / nᵢ 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non-parametric estimate of S(t).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visualize risk-group separation, assess calibration, communicate to clinicians.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figure: overlay model risk groups + at-risk counts + log-rank p-value.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univariate, cannot extrapolate beyond the last observed event.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92240" y="1783080"/>
            <a:ext cx="5120640" cy="2286000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92240" y="2423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FIGURE — stratified KM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2880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Add high- vs low-risk KM curves with at-risk counts underneath and the log-rank p annotated.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plot (lifelines)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4562856"/>
            <a:ext cx="5120640" cy="141732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4562856"/>
            <a:ext cx="6400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4636008"/>
            <a:ext cx="48280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= risk_scores &gt;= tau   # tau from Module 04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km_hi = KaplanMeierFitter().fit(T[high],  E[high])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km_lo = KaplanMeierFitter().fit(T[~high], E[~high])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add_at_risk_counts(km_hi, km_lo, ax=ax)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Time-dependent AUC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AUC to survival by defining cases &amp; controls at each time t.</a:t>
            </a:r>
            <a:endParaRPr lang="en-US" sz="1350" dirty="0"/>
          </a:p>
          <a:p>
            <a:pPr lvl="1" marL="355600" indent="-1778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Cumulative/Dynamic: cases = all events up to t (most common)</a:t>
            </a:r>
            <a:endParaRPr lang="en-US" sz="1350" dirty="0"/>
          </a:p>
          <a:p>
            <a:pPr lvl="1" marL="3556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Incident/Dynamic: cases = events in a window around 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Time-resolved discrimination — shows where the model performs well.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 gives a single C-index-comparable summary.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IPCW caveat as Brier: keep evaluation times inside follow-up.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922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scikit-survival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2093976"/>
            <a:ext cx="5120640" cy="178308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093976"/>
            <a:ext cx="64008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656832" y="2167128"/>
            <a:ext cx="4828032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sksurv.metrics import cumulative_dynamic_auc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 = np.percentile(time_test[event_test],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[25, 50, 75])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auc, mean_auc = cumulative_dynamic_auc(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y_train, y_test, risk_scores, times)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3794760"/>
            <a:ext cx="5120640" cy="1874520"/>
          </a:xfrm>
          <a:prstGeom prst="rect">
            <a:avLst/>
          </a:prstGeom>
          <a:solidFill>
            <a:srgbClr val="F1F5F9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92240" y="42291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FIGURE — AUC(t)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46863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Add AUC plotted against time horizons, with the mean AUC marked as a reference line.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834640" y="2331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Packages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8036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Python libraries cover the spectrum — from classical statistics to deep learning to the best metrics in the ecosystem. Pick by how much of the training loop you own.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· PACKAGES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Python survival toolkit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286000"/>
                <a:gridCol w="6309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stats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KM/NA, Cox &amp; parametric fitters, log-rank — exploratory &amp; clinical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scikit-survival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Regularized Cox, RSF, GBM; best metrics library; sklearn pipelines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pycox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DeepSurv, CoxCC, DeepHit, MTLR, discrete-time NLL (PyTorch)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torchsurv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/ custom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Differentiable losses &amp; GPU metrics for your own forward pass (3D)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auton-survival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+ causal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DSM/DCM competing risks, counterfactuals, phenotyping, IBS w/ CIs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(T, δ) data, different containers (DataFrame cols · parallel arrays · structured array) — a frequent source of silent bugs. Full APIs &amp; citations in references/.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834640" y="2331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SSL3D-Survival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8036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3D imaging + outcome datasets are small. Self-supervised pretraining on large unlabeled volumes learns rich representations to fine-tune for survival with limited labels.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· SSL3D TUTORIAL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SSL3D-Survival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91440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92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images (unlabeled)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404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volumetric 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05072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783080"/>
            <a:ext cx="91440" cy="1143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892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6636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pretraining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2404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/ MAE / DINO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36992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412480" y="17830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1783080"/>
            <a:ext cx="91440" cy="1143000"/>
          </a:xfrm>
          <a:prstGeom prst="rect">
            <a:avLst/>
          </a:prstGeom>
          <a:solidFill>
            <a:srgbClr val="33415A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18928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9828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3D encoder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98280" y="24048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CNN or 3D ViT backbone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3375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337560"/>
            <a:ext cx="91440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447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3474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w/ survival loss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959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/ DeepHIT + (T, δ)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05072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4480560" y="33375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80560" y="3337560"/>
            <a:ext cx="91440" cy="1143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3447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66360" y="3474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per patient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66360" y="3959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head: linear / MLP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36992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8412480" y="333756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12480" y="3337560"/>
            <a:ext cx="91440" cy="1143000"/>
          </a:xfrm>
          <a:prstGeom prst="rect">
            <a:avLst/>
          </a:prstGeom>
          <a:solidFill>
            <a:srgbClr val="33415A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0" y="3447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098280" y="3474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98280" y="3959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· Brier · KM curves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98380" y="29443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3D encoder (CNN/ViT) · SSL method (SimCLR, MoCo, DINO, MAE adapted to volumes) · survival head · Cox or DeepHIT loss.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· SSL3D TUTORIAL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walkthrough — fine-tune &amp; evaluate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1–3: resample to isotropic spacing, z-score normalize, crop/pad to 128³ → load pretrained encoder → extract features.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loop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59736"/>
            <a:ext cx="5532120" cy="365760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59736"/>
            <a:ext cx="64008" cy="3657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532888"/>
            <a:ext cx="523951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 — fine-tune with survival loss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torchsurv.loss import cox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survival_head = nn.Linear(encoder.embed_dim, 1)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= torch.optim.Adam(list(encoder.parameters())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list(survival_head.parameters()), lr=1e-4)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range(100):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log_hz = survival_head(encoder(images)).squeeze()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cox.neg_partial_log_likelihood(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log_hz, events, times)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opt.zero_grad(); loss.backward(); opt.step()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3640" y="21488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stratify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459736"/>
            <a:ext cx="5349240" cy="3657600"/>
          </a:xfrm>
          <a:prstGeom prst="rect">
            <a:avLst/>
          </a:prstGeom>
          <a:solidFill>
            <a:srgbClr val="1B2A41"/>
          </a:solidFill>
          <a:ln/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459736"/>
            <a:ext cx="64008" cy="3657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532888"/>
            <a:ext cx="505663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5 — evaluate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torchsurv.metrics.cindex import ConcordanceIndex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ConcordanceIndex()(log_hz_test, ev_test, t_test)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7FD1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6 — stratify + KM + log-rank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= risk_scores &gt;= risk_scores.median()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kmf.fit(times[high],  events[high],  label='High')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kmf.fit(times[~high], events[~high], label='Low')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= logrank_test(times[high], times[~high],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events[high], events[~high])</a:t>
            </a:r>
            <a:endParaRPr lang="en-US" sz="10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print(f'log-rank p = {res.p_value:.4f}')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834640" y="23317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880360" y="3429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PFS risk stratification — the connective tissue: train a risk model, fit the cutpoint on TRAIN, freeze it, and validate the split on held-out patients.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· RECIPE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PFS stratification in three stages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37360"/>
            <a:ext cx="34747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Train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(score, not a split)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834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torchsurv Cox loss for a 3D model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log-rank aux term (λ ~ 0.1–0.5)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both train &amp; test splits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4164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251960" y="173736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737360"/>
            <a:ext cx="3474720" cy="4572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Fit 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Cutpoint on TRAIN, then freeze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16552" y="2834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τ = argmax log-rank stat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TRAIN scores only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is the safe baseline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4496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955280" y="173736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1737360"/>
            <a:ext cx="3474720" cy="457200"/>
          </a:xfrm>
          <a:prstGeom prst="rect">
            <a:avLst/>
          </a:prstGeom>
          <a:solidFill>
            <a:srgbClr val="33415A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764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Validate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38160" y="2286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frozen τ to TEST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19872" y="2834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honest significance test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KM + log-rank p (held-out)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report C-index &amp; AUC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6817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this goes wrong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983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Re-deriving τ on the test set — guarantees an optimistic split. Freeze it on train.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the training max-log-rank p as significance — invalid (multiple testing). Only held-out counts.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PFS as two events — death is already inside PFS; competing risks is a different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Modelling for 3D Medical Images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is the 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discard censored subjects; verify the δ convention before fitting.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output to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1965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= ranking; you need S(t) for absolute event probabilities.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loss for the goal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4747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for ranking, parametric NLL for S(t), log-rank for separation, DeepHIT for competing risks.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1546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cutpoint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34747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τ on train, apply to test — the only honest stratification p-value.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≠ calibration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C-index/AUC and the Brier score; keep eval times inside follow-up.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46634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unlocks small 3D 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 on unlabeled volumes, fine-tune a survival head with limited labels.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packages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0" y="1554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Davidson-Pilon (2019), JOSS · doi:10.21105/joss.01317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042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scikit-survival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23042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Pölsterl (2020), JMLR 21(212) · jmlr.org/papers/v21/20-729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0540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pycox / DeepSurv / DeepHit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30540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Kvamme et al. (2019) JMLR · Katzman et al. (2018) · Lee et al. (2018) AAAI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8039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torchsurv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380390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Monod et al. (2024), JOSS · doi:10.21105/joss.07341 · FDA RST tool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5537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auton-survival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455371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Nagpal et al. (2022), arXiv:2204.07276 · DSM / DCM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5303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(1972) partial likelihood · Kaplan-Meier (1958) · Aalen-Johansen (CIF)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APIs, GitHub links, and BibTeX entries in the repo under references/.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Survival Modelling for 3D Medical Images</dc:title>
  <dc:subject>PptxGenJS Presentation</dc:subject>
  <dc:creator>survival_minicourse</dc:creator>
  <cp:lastModifiedBy>survival_minicourse</cp:lastModifiedBy>
  <cp:revision>1</cp:revision>
  <dcterms:created xsi:type="dcterms:W3CDTF">2026-05-29T21:01:39Z</dcterms:created>
  <dcterms:modified xsi:type="dcterms:W3CDTF">2026-05-29T21:01:39Z</dcterms:modified>
</cp:coreProperties>
</file>